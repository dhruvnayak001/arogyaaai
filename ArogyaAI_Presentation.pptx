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name clearly. Pause. Deliver the subtitle. 10 seconds — set the tone that this is a serious healthcare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Ramesh's story. Don't read bullets — narrate. Pause. Let it land. Then move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'What if Ramesh could describe his symptoms in Hindi? What if the AI could read his lab report AND tell the doctor what's wrong — before Ramesh walks in?'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step. Emphasize that every stage feeds the next. Key line: 'The doctor never starts a consultation cold.'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STAR SLIDE. Spend 60+ seconds here. Point to the JSON. Read key fields aloud. Pause. Then: 'No consumer health app does this today.'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pipeline. Say 'AI self-assessment indicators' NOT 'confidence scores.' Green = confident, Amber = double-check, Red = verify manually. Do NOT say RLHF.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moment. Speak in Hindi live if mic works. If not, point to the card. The Hindi → urgency detection → clinical English normalization is visceral.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doctor's side. 'This closes the loop — patient speaks, AI analyzes, doctor sees everything BEFORE the patient walks in.'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seconds max. Quick trust-building slide. Don't linger on npm packages. Say 'deployment-ready architecture' not 'production-grade.'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Practo's advantages. This honesty INCREASES your score with judges who know the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sections: Patients, Doctors, Responsible AI. Then the 5 reasons. Deliver with conviction.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5 phases quickly. Then point to validation: 'We know the path from prototype to product.' Every item is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with conviction. Pause. 'We can't add more minutes. But we can make every minute count. That is ArogyaAI.' Smile.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146304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HEALTHCARE PLATFORM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ArogyaAI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0" y="32918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patient symptoms to doctor-ready clinical briefs —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any language, before the consultation begins.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0" y="4572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 •  Hackathon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Ramesh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858000" cy="1463040"/>
          </a:xfrm>
          <a:prstGeom prst="roundRect">
            <a:avLst>
              <a:gd name="adj" fmla="val 9375"/>
            </a:avLst>
          </a:prstGeom>
          <a:solidFill>
            <a:srgbClr val="111827"/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F1F5F9"/>
                </a:solidFill>
              </a:rPr>
              <a:t>"Ramesh is 58. He carried a folder of lab reports to a government hospital.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F1F5F9"/>
                </a:solidFill>
              </a:rPr>
              <a:t>He waited 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i="1" dirty="0">
                <a:solidFill>
                  <a:srgbClr val="EF4444"/>
                </a:solidFill>
              </a:rPr>
              <a:t>3 hours</a:t>
            </a:r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F1F5F9"/>
                </a:solidFill>
              </a:rPr>
              <a:t>. His consultation lasted </a:t>
            </a:r>
            <a:pPr indent="0" marL="0">
              <a:lnSpc>
                <a:spcPct val="150000"/>
              </a:lnSpc>
              <a:buNone/>
            </a:pPr>
            <a:r>
              <a:rPr lang="en-US" sz="1300" b="1" i="1" dirty="0">
                <a:solidFill>
                  <a:srgbClr val="EF4444"/>
                </a:solidFill>
              </a:rPr>
              <a:t>90 seconds</a:t>
            </a:r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F1F5F9"/>
                </a:solidFill>
              </a:rPr>
              <a:t>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F1F5F9"/>
                </a:solidFill>
              </a:rPr>
              <a:t>The doctor never opened his folder. Ramesh has undiagnosed diabetes."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This isn't rare. This is the norm.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2918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minutes — average consultation time in India [Irving et al., BMJ Open 2017]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7947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reports ignored — doctors have no time to read unstructured documents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🗣️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2976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barrier — most Indians don't speak English, yet health AI is English-only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155448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691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1:1,457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72400" y="2286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Doctor-patient ratio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recommends 1:1,000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320040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3337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772400" y="3931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Out-of-pocket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spending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0" y="4846320"/>
            <a:ext cx="3840480" cy="137160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49834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772400" y="5577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languages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AI speaks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ArogyaAI — Making Every 2 Minutes Count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 platform that speaks the patient's language, understands their documents, and prepares the doctor — before the consultation begins.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77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🗣️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Language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in Hindi, Marathi, English — even mixed Hinglish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377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Understands Reports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values extracted with AI reliability indicators you can verify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19456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377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👨‍⚕️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1248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Gets a Brief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clinical copilot with urgency, conditions, and focus areas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11247120" cy="640080"/>
          </a:xfrm>
          <a:prstGeom prst="roundRect">
            <a:avLst>
              <a:gd name="adj" fmla="val 17143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846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Key: These aren't separate apps. It's one integrated pipeline — symptoms → documents → booking → AI copilot brief → doctor.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Journey — End to 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🗣️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3108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/ Marathi / EN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317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94A2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743200" y="173736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3108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image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177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94A2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0" y="173736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16636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66360" y="3108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Gemini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indicators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037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94A2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0" y="173736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5236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52360" y="3108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correct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897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94A2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601200" y="1737360"/>
            <a:ext cx="2011680" cy="2560320"/>
          </a:xfrm>
          <a:prstGeom prst="roundRect">
            <a:avLst>
              <a:gd name="adj" fmla="val 5455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👨‍⚕️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73836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Gets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38360" y="3108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 output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+ conditions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548640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57200" y="5029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Screenshot: Patient 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from /dashboard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754880"/>
            <a:ext cx="5486400" cy="164592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217920" y="5029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Screenshot: Doctor 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from /doctor/dashboard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KEY INNOVATION #1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Pre-Consultation Copilot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appointment, AI synthesizes symptoms + reports into a structured clinical brief the doctor reviews before the patient walks in.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Accepts symptoms in Hindi, Marathi, English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Correlates with uploaded report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Assigns urgency: LOW → CRITICAL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Suggests focus areas + recommended specialty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Flags abnormal lab values with normal ranges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Analysis reliability indicator (HIGH / MEDIUM / LOW)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Advisory output only — not a clinical diagnosis. Always reviewed by the consulting physician.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0D11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554480"/>
            <a:ext cx="5029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"summaryText": "Patient reports fever and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headache for 3 days. Lab reports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indicate low hemoglobin.",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"symptoms": ["fever", "headache", "fatigue"],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"symptomTimeline": "3 days",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"urgencyLevel": "MEDIUM",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"conditions": ["Anemia", "Viral fever"],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"suggestedFocusAreas": [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"Complete blood count",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"Iron studies"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"abnormalValues": [{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"parameter": "Hemoglobin",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"value": "8.2 g/dL",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"normalRange": "12.0–17.5 g/dL"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"analysisReliability": "HIGH",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"recommendedSpecialty": "General Physician"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KEY INNOVATION #2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Document Intelligence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Image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3172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94A2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0" y="164592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346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 →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1772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94A2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164592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206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+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indicators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0372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94A2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0" y="164592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066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🟢🟡🔴 cues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correct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8972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94A2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01200" y="164592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👨‍⚕️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692640" y="2103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Summary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9264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summary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HIGH — AI Self-Assessment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0.8 — AI reports high extraction certainty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97680" y="365760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 — Verify Recommended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8056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0.5–0.8 — patient should double-check this value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138160" y="365760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LOW — Manual Check Needed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4114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0.5 — patient should enter correct value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These indicators are AI-generated, not clinically validated. They serve as attention signals — helping patients identify which values to double-check. Patient corrections are tracked for future model improvement.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585216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Screenshot: MedicalVerificationModal with green/amber/red indicators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KEY INNOVATION #3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Voice-First Input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describe symptoms by speaking naturally — in their own language.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English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103120" y="192024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हिंदी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49040" y="192024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मराठी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Real-time live transcription (browser-native speech recognition)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AI mirrors input language in responses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3697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Urgency keywords (chest pain, breathlessness) trigger instant alerts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210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Quick-pick symptom tags for common conditions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0507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Hinglish (mixed Hindi-English) handled naturally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645920"/>
            <a:ext cx="4846320" cy="4572000"/>
          </a:xfrm>
          <a:prstGeom prst="roundRect">
            <a:avLst>
              <a:gd name="adj" fmla="val 3000"/>
            </a:avLst>
          </a:prstGeom>
          <a:solidFill>
            <a:srgbClr val="111827"/>
          </a:solidFill>
          <a:ln w="12700">
            <a:solidFill>
              <a:srgbClr val="0694A2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828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🎤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7132320" y="2651760"/>
            <a:ext cx="4297680" cy="1005840"/>
          </a:xfrm>
          <a:prstGeom prst="roundRect">
            <a:avLst>
              <a:gd name="adj" fmla="val 9091"/>
            </a:avLst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26974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(Hindi):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69480" y="29260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"मुझे 3 दिन से बुखार और सिरदर्द है,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और सीने में दर्द हो रहा है"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0" y="3840480"/>
            <a:ext cx="4297680" cy="457200"/>
          </a:xfrm>
          <a:prstGeom prst="roundRect">
            <a:avLst>
              <a:gd name="adj" fmla="val 16000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3886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Urgent symptom detected: chest pain — call 112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4480560"/>
            <a:ext cx="4297680" cy="640080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452628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normalizes for doctor's brief: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69480" y="4754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fever, headache, chest pain (3-day duration)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DOCTOR'S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Patient 360°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doctor opens a patient profile, they see an AI Command Center — not a blank chart.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Patient Snapshot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badge (LOW→CRITICAL), current symptoms, conditions, allergies — one hero view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201168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49440" y="2103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Prep Panel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2468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AI-suggested focus areas, new symptoms since last visit, recent abnormal findings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Trends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703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 trend charts (hemoglobin, glucose, cholesterol) with SVG line charts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324612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4944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Timeline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3703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patient history — appointments, reports, risk levels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48056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97280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Viewer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937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PDFs and images inline. See AI analysis severity and extraction data.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4480560"/>
            <a:ext cx="5577840" cy="105156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49440" y="4572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Triage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49440" y="49377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AI severity classification (CRITICAL/HIGH/MODERATE/LOW) and 112 quick-dial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576072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Screenshot: PatientView360 — AI Snapshot Hero with risk badge, symptoms, conditions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3566160" cy="45720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Framer Motion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 management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 voice API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 routes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645920"/>
            <a:ext cx="35661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1945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service layer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OTP authentication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Cron-based reminders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38160" y="164592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645920"/>
            <a:ext cx="356616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21945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4-model fallback chain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CDN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557784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37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AI Resilience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52578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model fallback: gemini-flash-latest → 2.0-flash-lite → 2.0-flash → 2.5-flash. Daily quota exhaustion cached. Safety blocks throw immediately.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4846320"/>
            <a:ext cx="5577840" cy="146304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377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Security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52578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Helmet.js headers, MongoDB injection sanitization, CORS whitelist, role-based rate limiting (auth: 20/15min, AI: 20/15min, uploads: 10/15min), medical disclaimers.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20040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1645920"/>
            <a:ext cx="164592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03520" y="1645920"/>
            <a:ext cx="164592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Health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949440" y="1645920"/>
            <a:ext cx="164592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DAX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95360" y="1645920"/>
            <a:ext cx="1645920" cy="347472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ArogyaAI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20040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0" y="2029968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2029968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49440" y="2029968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2029968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414016"/>
            <a:ext cx="320040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Chat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414016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2414016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2414016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595360" y="2414016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798064"/>
            <a:ext cx="320040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Document 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2798064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2798064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2798064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0" y="2798064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182112"/>
            <a:ext cx="320040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Quality Indicators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3182112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3182112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3182112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95360" y="3182112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566160"/>
            <a:ext cx="320040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0" y="3566160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0" y="3566160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3566160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95360" y="3566160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950208"/>
            <a:ext cx="320040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Pre-Consultation Copilot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0" y="3950208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3950208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3950208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Post-visit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595360" y="3950208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334256"/>
            <a:ext cx="320040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Voice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0" y="4334256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303520" y="4334256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49440" y="4334256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only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595360" y="4334256"/>
            <a:ext cx="1645920" cy="347472"/>
          </a:xfrm>
          <a:prstGeom prst="rect">
            <a:avLst/>
          </a:prstGeom>
          <a:solidFill>
            <a:srgbClr val="111827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718304"/>
            <a:ext cx="320040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Emergency Triage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0" y="4718304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03520" y="4718304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49440" y="4718304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95360" y="4718304"/>
            <a:ext cx="1645920" cy="347472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5102352"/>
            <a:ext cx="3200400" cy="347472"/>
          </a:xfrm>
          <a:prstGeom prst="rect">
            <a:avLst/>
          </a:prstGeom>
          <a:solidFill>
            <a:srgbClr val="0694A2">
              <a:alpha val="12000"/>
            </a:srgbClr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AI Features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0" y="5102352"/>
            <a:ext cx="1645920" cy="347472"/>
          </a:xfrm>
          <a:prstGeom prst="rect">
            <a:avLst/>
          </a:prstGeom>
          <a:solidFill>
            <a:srgbClr val="0694A2">
              <a:alpha val="12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03520" y="5102352"/>
            <a:ext cx="1645920" cy="347472"/>
          </a:xfrm>
          <a:prstGeom prst="rect">
            <a:avLst/>
          </a:prstGeom>
          <a:solidFill>
            <a:srgbClr val="0694A2">
              <a:alpha val="12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9440" y="5102352"/>
            <a:ext cx="1645920" cy="347472"/>
          </a:xfrm>
          <a:prstGeom prst="rect">
            <a:avLst/>
          </a:prstGeom>
          <a:solidFill>
            <a:srgbClr val="0694A2">
              <a:alpha val="12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595360" y="5102352"/>
            <a:ext cx="1645920" cy="347472"/>
          </a:xfrm>
          <a:prstGeom prst="rect">
            <a:avLst/>
          </a:prstGeom>
          <a:solidFill>
            <a:srgbClr val="0694A2">
              <a:alpha val="12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566928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Honest note: This comparison focuses on AI capabilities. Practo has millions of users, real payments, and verified doctors — operational capabilities we haven't built yet. Our advantage is in AI intelligence, not operational scale.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POSITIONING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— And Why We Can Win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3566160" cy="36576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For Patients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Accessibility: Speak symptoms in your language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Transparency: See AI extractions, correct mistakes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Continuity: Health records organized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Safety: Emergency triage when seconds matter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645920"/>
            <a:ext cx="35661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For Doctors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Pre-read Brief: AI copilot before consultation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8056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 Efficiency: 1 min saved × 40+ patients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Structured Data: Abnormal values flagged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056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Automation: Cron reminders reduce no-shows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38160" y="164592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645920"/>
            <a:ext cx="35661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Responsible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  Advisory only — not a diagnosis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Human verification for extracted data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2104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  Doctors remain final decision makers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32104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Medical disclaimers on every AI output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937760"/>
            <a:ext cx="11247120" cy="1280160"/>
          </a:xfrm>
          <a:prstGeom prst="roundRect">
            <a:avLst>
              <a:gd name="adj" fmla="val 8571"/>
            </a:avLst>
          </a:prstGeom>
          <a:solidFill>
            <a:srgbClr val="0694A2">
              <a:alpha val="12000"/>
            </a:srgbClr>
          </a:solidFill>
          <a:ln w="12700">
            <a:solidFill>
              <a:srgbClr val="0694A2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Working Prototype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code, not slides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3464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5 AI Capabilities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OCR, copilot, triage, summary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3 Languages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Hindi, Marathi, English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2376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Deployment-Ready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chain, auth, rate limiting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418320" y="5029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1.4B People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41832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 real problem at scale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560320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Validation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Development Phases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57784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54864" cy="731520"/>
          </a:xfrm>
          <a:prstGeom prst="rect">
            <a:avLst/>
          </a:prstGeom>
          <a:solidFill>
            <a:srgbClr val="0694A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84832"/>
            <a:ext cx="1097280" cy="228600"/>
          </a:xfrm>
          <a:prstGeom prst="rect">
            <a:avLst/>
          </a:prstGeom>
          <a:solidFill>
            <a:srgbClr val="0694A2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9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28800" y="20848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doctor onboarding · Razorpay payments · Video consultations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557784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80360"/>
            <a:ext cx="54864" cy="7315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53512"/>
            <a:ext cx="1097280" cy="22860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28800" y="29535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/ ABHA integration · Digital prescriptions · Unified health records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557784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49040"/>
            <a:ext cx="54864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22192"/>
            <a:ext cx="1097280" cy="22860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28800" y="382219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40080" y="4114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 prediction · Longitudinal monitoring · AI visit summaries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557784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617720"/>
            <a:ext cx="54864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90872"/>
            <a:ext cx="1097280" cy="22860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828800" y="46908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40080" y="4983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apps · Tamil, Telugu, Bengali, Kannada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486400"/>
            <a:ext cx="5577840" cy="73152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486400"/>
            <a:ext cx="54864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559552"/>
            <a:ext cx="1097280" cy="22860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0" y="555955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IMPLEMENTED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0080" y="5852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integrations · Remote patient monitoring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5544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Ethics Roadmap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2011680"/>
            <a:ext cx="5577840" cy="3383280"/>
          </a:xfrm>
          <a:prstGeom prst="roundRect">
            <a:avLst>
              <a:gd name="adj" fmla="val 3243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2011680"/>
            <a:ext cx="55778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21945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Clinical validation with practicing doctors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26974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Real-world pilot testing in healthcare facilities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32004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Accuracy benchmarking against ground truth data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37033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Explainability improvements for AI decisions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42062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Bias and safety evaluation across demographics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47091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Regulatory readiness assessment (DISHA, CDSCO)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5577840"/>
            <a:ext cx="5577840" cy="640080"/>
          </a:xfrm>
          <a:prstGeom prst="roundRect">
            <a:avLst>
              <a:gd name="adj" fmla="val 14286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56235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All validation items are future work. We know the path from prototype to product — and we've designed the architecture to support it.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286000" y="256032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India, a doctor sees 40 patients a day.
</a:t>
            </a:r>
            <a:pPr algn="ctr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consultation lasts 2 minutes.
</a:t>
            </a:r>
            <a:pPr algn="ctr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add more minutes.
</a:t>
            </a:r>
            <a:pPr algn="ctr" indent="0" marL="0">
              <a:lnSpc>
                <a:spcPct val="160000"/>
              </a:lnSpc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 can make every minute count.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475488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800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GitHub: ArogyaAI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475488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4800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Live Demo Available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56692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We'd love to discuss the technical details — or show a live demo.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ArogyaAI — Hackathon Presentation</dc:title>
  <dc:subject>AI-Powered Healthcare Platform</dc:subject>
  <dc:creator>ArogyaAI Team</dc:creator>
  <cp:lastModifiedBy>ArogyaAI Team</cp:lastModifiedBy>
  <cp:revision>1</cp:revision>
  <dcterms:created xsi:type="dcterms:W3CDTF">2026-06-15T09:44:55Z</dcterms:created>
  <dcterms:modified xsi:type="dcterms:W3CDTF">2026-06-15T09:44:55Z</dcterms:modified>
</cp:coreProperties>
</file>